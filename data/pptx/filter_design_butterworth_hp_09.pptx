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37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</a:rPr>
              <a:t>Butterworth High-Pass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20116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E3F2FD"/>
                </a:solidFill>
              </a:rPr>
              <a:t>Order 8  |  Cutoff Frequency: 12,000 Hz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9A825"/>
                </a:solidFill>
              </a:rPr>
              <a:t>File 019 / 100  |  Variant 9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1828800"/>
            <a:ext cx="7315200" cy="0"/>
          </a:xfrm>
          <a:prstGeom prst="line">
            <a:avLst/>
          </a:prstGeom>
          <a:ln w="25400">
            <a:solidFill>
              <a:srgbClr val="F9A82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91440"/>
            <a:ext cx="8503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565C0"/>
                </a:solidFill>
              </a:rPr>
              <a:t>Filter Theory &amp; Transfer Function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33333"/>
                </a:solidFill>
              </a:rPr>
              <a:t>Transfer Function H(s) — Butterworth Order 8
  |H(jω)|² = 1 / [1 + (ω/ωc)^16]
  ωc = 2π × 12,000 rad/s  ≈  75398.2 rad/s
  3 dB cutoff: 12,000 Hz
  Maximally flat passband (no ripple)
  Roll-off: 160 dB/decade beyond ωc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Frequency Response — Bode Plot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212080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Bode plot of Butterworth High-Pass order 8 filter. Top panel: magnitude response in dB showing -3 dB cutoff at 12,000 Hz with a roll-off of approximately 160 dB/decade. Bottom panel: phase response in degrees.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Circuit / Block Diagram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594360"/>
            <a:ext cx="841248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74320" y="5074920"/>
            <a:ext cx="8412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333333"/>
                </a:solidFill>
              </a:rPr>
              <a:t>Sallen-Key topology for Butterworth High-Pass order 8. The circuit uses two resistors R₁, R₂ and two capacitors C₁, C₂ around an op-amp in unity-gain configuration to realise a 2nd-order low-pass section with cutoff frequency 12,000 Hz.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Design Parameters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594360"/>
          <a:ext cx="82296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Parameter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1565C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Family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Butterworth High-Pass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Type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High-Pass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Filter Order (N)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8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Cutoff Frequency (fc)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12,000 Hz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Angular Cutoff (ωc)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75398.22 rad/s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Passband Gain (0 Hz)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0 dB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-3 dB Frequency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000" b="0"/>
                        <a:t>12,000 Hz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000" b="0"/>
                        <a:t>Roll-off Rate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/>
                        <a:t>160 dB/decade</a:t>
                      </a:r>
                    </a:p>
                  </a:txBody>
                  <a:tcPr>
                    <a:solidFill>
                      <a:srgbClr val="E3F2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8503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565C0"/>
                </a:solidFill>
              </a:rPr>
              <a:t>Real-World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4360"/>
            <a:ext cx="8229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33333"/>
                </a:solidFill>
              </a:rPr>
              <a:t>• DC-blocking in microphone pre-amplifier circuits
• Removal of low-frequency mechanical vibration interference
• Coupling filter in AC-coupled differential amplifier inputs
• High-pass shelving EQ in professional audio mastering
• Seismic noise rejection in structural health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12064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1565C0"/>
                </a:solidFill>
              </a:rPr>
              <a:t>Filter: Butterworth High-Pass | fc = 12,000 Hz | Order =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