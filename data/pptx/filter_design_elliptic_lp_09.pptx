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237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73152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>
                <a:solidFill>
                  <a:srgbClr val="FFFFFF"/>
                </a:solidFill>
              </a:rPr>
              <a:t>Elliptic Low-Pass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201168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E3F2FD"/>
                </a:solidFill>
              </a:rPr>
              <a:t>Order 3  |  Cutoff Frequency: 15,000 Hz  |  Passband Ripple: 0.5 dB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274320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F9A825"/>
                </a:solidFill>
              </a:rPr>
              <a:t>File 059 / 100  |  Variant 9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914400" y="1828800"/>
            <a:ext cx="7315200" cy="0"/>
          </a:xfrm>
          <a:prstGeom prst="line">
            <a:avLst/>
          </a:prstGeom>
          <a:ln w="25400">
            <a:solidFill>
              <a:srgbClr val="F9A82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91440"/>
            <a:ext cx="8503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1565C0"/>
                </a:solidFill>
              </a:rPr>
              <a:t>Filter Theory &amp; Transfer Function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8580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333333"/>
                </a:solidFill>
              </a:rPr>
              <a:t>Transfer Function H(s) — Elliptic Order 3
  |H(jω)|² = 1 / [1 + ε²·Rₙ²(ξ, ω/ωp)]
  ε² = 10^(Rp/10) - 1,  Rp = 0.5 dB
  Rₙ = Chebyshev rational function
  ωp = 2π × 15,000 rad/s (passband edge)
  Equiripple in both passband and stopband
  Sharpest roll-off for given order and ripple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45720"/>
            <a:ext cx="8503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565C0"/>
                </a:solidFill>
              </a:rPr>
              <a:t>Frequency Response — Bode Plot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594360"/>
            <a:ext cx="8412480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74320" y="5212080"/>
            <a:ext cx="8412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333333"/>
                </a:solidFill>
              </a:rPr>
              <a:t>Bode plot of Elliptic Low-Pass order 3 filter. Top panel: magnitude response in dB showing -3 dB cutoff at 15,000 Hz with a roll-off of approximately 60 dB/decade. Bottom panel: phase response in degrees.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45720"/>
            <a:ext cx="8503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565C0"/>
                </a:solidFill>
              </a:rPr>
              <a:t>Circuit / Block Diagram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594360"/>
            <a:ext cx="8412480" cy="43891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74320" y="5074920"/>
            <a:ext cx="8412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333333"/>
                </a:solidFill>
              </a:rPr>
              <a:t>Cascade block diagram for Elliptic Low-Pass order 3. The design is decomposed into 1 second-order section(s), each realising a pair of complex conjugate poles near cutoff 15,000 Hz.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45720"/>
            <a:ext cx="8503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565C0"/>
                </a:solidFill>
              </a:rPr>
              <a:t>Design Parameters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594360"/>
          <a:ext cx="8229600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14800"/>
                <a:gridCol w="4114800"/>
              </a:tblGrid>
              <a:tr h="36576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</a:rPr>
                        <a:t>Parameter</a:t>
                      </a:r>
                    </a:p>
                  </a:txBody>
                  <a:tcPr>
                    <a:solidFill>
                      <a:srgbClr val="1565C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</a:rPr>
                        <a:t>Value</a:t>
                      </a:r>
                    </a:p>
                  </a:txBody>
                  <a:tcPr>
                    <a:solidFill>
                      <a:srgbClr val="1565C0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000" b="0"/>
                        <a:t>Filter Family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Elliptic Low-Pass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000" b="0"/>
                        <a:t>Filter Type</a:t>
                      </a:r>
                    </a:p>
                  </a:txBody>
                  <a:tcPr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/>
                        <a:t>Low-Pass</a:t>
                      </a:r>
                    </a:p>
                  </a:txBody>
                  <a:tcPr>
                    <a:solidFill>
                      <a:srgbClr val="E3F2FD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000" b="0"/>
                        <a:t>Filter Order (N)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3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000" b="0"/>
                        <a:t>Cutoff Frequency (fc)</a:t>
                      </a:r>
                    </a:p>
                  </a:txBody>
                  <a:tcPr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/>
                        <a:t>15,000 Hz</a:t>
                      </a:r>
                    </a:p>
                  </a:txBody>
                  <a:tcPr>
                    <a:solidFill>
                      <a:srgbClr val="E3F2FD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000" b="0"/>
                        <a:t>Angular Cutoff (ωc)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94247.78 rad/s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000" b="0"/>
                        <a:t>Passband Gain (0 Hz)</a:t>
                      </a:r>
                    </a:p>
                  </a:txBody>
                  <a:tcPr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/>
                        <a:t>0 dB</a:t>
                      </a:r>
                    </a:p>
                  </a:txBody>
                  <a:tcPr>
                    <a:solidFill>
                      <a:srgbClr val="E3F2FD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000" b="0"/>
                        <a:t>-3 dB Frequency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15,000 Hz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000" b="0"/>
                        <a:t>Roll-off Rate</a:t>
                      </a:r>
                    </a:p>
                  </a:txBody>
                  <a:tcPr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/>
                        <a:t>60 dB/decade</a:t>
                      </a:r>
                    </a:p>
                  </a:txBody>
                  <a:tcPr>
                    <a:solidFill>
                      <a:srgbClr val="E3F2FD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000" b="0"/>
                        <a:t>Passband Ripple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0.5 dB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45720"/>
            <a:ext cx="8503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565C0"/>
                </a:solidFill>
              </a:rPr>
              <a:t>Real-World Applications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94360"/>
            <a:ext cx="82296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333333"/>
                </a:solidFill>
              </a:rPr>
              <a:t>• Narrowest transition band: satellite communication transponders
• Multi-tone DTMF decoder front-end filtering
• Anti-aliasing in high-speed ADCs where order must be minimised
• Channel guard filtering in dense OFDM subcarrier spacing
• Spectral containment in military frequency-hopping radios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120640"/>
            <a:ext cx="8229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1565C0"/>
                </a:solidFill>
              </a:rPr>
              <a:t>Filter: Elliptic Low-Pass | fc = 15,000 Hz | Order = 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